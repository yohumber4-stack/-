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571625"/>
            <a:ext cx="666750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750" b="1">
                <a:solidFill>
                  <a:srgbClr val="1D2528"/>
                </a:solidFill>
                <a:latin typeface="Cambria"/>
              </a:rPr>
              <a:t>Вредные привычки: влияние на здоровье и способы избавления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524250"/>
            <a:ext cx="64770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5E676B"/>
                </a:solidFill>
                <a:latin typeface="Arial"/>
              </a:rPr>
              <a:t>На примере курения и игровой зависимости: чем они опасны и как от них избавиться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4476750"/>
            <a:ext cx="28575" cy="285750"/>
          </a:xfrm>
          <a:prstGeom prst="rect">
            <a:avLst/>
          </a:prstGeom>
          <a:solidFill>
            <a:srgbClr val="2F6B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4476750"/>
            <a:ext cx="628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425" b="0">
                <a:solidFill>
                  <a:srgbClr val="1D2528"/>
                </a:solidFill>
                <a:latin typeface="Arial"/>
              </a:rPr>
              <a:t>Презентацию сделал Чухлатенко Александр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E4EE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D2528"/>
                </a:solidFill>
                <a:latin typeface="Cambria"/>
              </a:rPr>
              <a:t>Привычка и зависимость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6477000" cy="3143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750"/>
              </a:spcAft>
            </a:pPr>
            <a:r>
              <a:rPr sz="1500" b="1">
                <a:solidFill>
                  <a:srgbClr val="1D2528"/>
                </a:solidFill>
                <a:latin typeface="Arial"/>
              </a:rPr>
              <a:t>Вредная привычка</a:t>
            </a:r>
            <a:r>
              <a:rPr sz="1500" b="0">
                <a:solidFill>
                  <a:srgbClr val="1D2528"/>
                </a:solidFill>
                <a:latin typeface="Arial"/>
              </a:rPr>
              <a:t> — регулярное действие, которое вредит здоровью человека или окружающих.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1D2528"/>
                </a:solidFill>
                <a:latin typeface="Arial"/>
              </a:rPr>
              <a:t>Зависимость</a:t>
            </a:r>
            <a:r>
              <a:rPr sz="1500" b="0">
                <a:solidFill>
                  <a:srgbClr val="1D2528"/>
                </a:solidFill>
                <a:latin typeface="Arial"/>
              </a:rPr>
              <a:t> — состояние, когда человек не может отказаться от вещества или действия, даже понимая вред.</a:t>
            </a:r>
          </a:p>
          <a:p>
            <a:pPr marL="190500" indent="-190500">
              <a:lnSpc>
                <a:spcPct val="115000"/>
              </a:lnSpc>
              <a:spcAft>
                <a:spcPts val="675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500" b="1">
                <a:solidFill>
                  <a:srgbClr val="1D2528"/>
                </a:solidFill>
                <a:latin typeface="Arial"/>
              </a:rPr>
              <a:t>Психическая:</a:t>
            </a:r>
            <a:r>
              <a:rPr sz="1500" b="0">
                <a:solidFill>
                  <a:srgbClr val="1D2528"/>
                </a:solidFill>
                <a:latin typeface="Arial"/>
              </a:rPr>
              <a:t> навязчивые мысли о веществе, без него появляются тревога и раздражение.</a:t>
            </a:r>
          </a:p>
          <a:p>
            <a:pPr marL="190500" indent="-190500">
              <a:lnSpc>
                <a:spcPct val="115000"/>
              </a:lnSpc>
              <a:spcAft>
                <a:spcPts val="675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500" b="1">
                <a:solidFill>
                  <a:srgbClr val="1D2528"/>
                </a:solidFill>
                <a:latin typeface="Arial"/>
              </a:rPr>
              <a:t>Физическая:</a:t>
            </a:r>
            <a:r>
              <a:rPr sz="1500" b="0">
                <a:solidFill>
                  <a:srgbClr val="1D2528"/>
                </a:solidFill>
                <a:latin typeface="Arial"/>
              </a:rPr>
              <a:t> если резко прекратить, начинается абстинентный синдром («ломка»): боли, бессонница, плохое самочувствие.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953000"/>
            <a:ext cx="6477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5E676B"/>
                </a:solidFill>
                <a:latin typeface="Arial"/>
              </a:rPr>
              <a:t>ПОЧЕМУ НАЧИНАЮТ</a:t>
            </a:r>
          </a:p>
        </p:txBody>
      </p:sp>
      <p:pic>
        <p:nvPicPr>
          <p:cNvPr id="6" name="Picture 5" descr="ico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257800"/>
            <a:ext cx="438150" cy="438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1100" y="5267325"/>
            <a:ext cx="257175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350" b="1">
                <a:solidFill>
                  <a:srgbClr val="1D2528"/>
                </a:solidFill>
                <a:latin typeface="Arial"/>
              </a:rPr>
              <a:t>Любопытство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E676B"/>
                </a:solidFill>
                <a:latin typeface="Arial"/>
              </a:rPr>
              <a:t>«попробую один раз»</a:t>
            </a:r>
          </a:p>
        </p:txBody>
      </p:sp>
      <p:pic>
        <p:nvPicPr>
          <p:cNvPr id="8" name="Picture 7" descr="ico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100" y="5257800"/>
            <a:ext cx="438150" cy="438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19600" y="5267325"/>
            <a:ext cx="26670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350" b="1">
                <a:solidFill>
                  <a:srgbClr val="1D2528"/>
                </a:solidFill>
                <a:latin typeface="Arial"/>
              </a:rPr>
              <a:t>Компания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E676B"/>
                </a:solidFill>
                <a:latin typeface="Arial"/>
              </a:rPr>
              <a:t>желание быть «своим»</a:t>
            </a:r>
          </a:p>
        </p:txBody>
      </p:sp>
      <p:pic>
        <p:nvPicPr>
          <p:cNvPr id="10" name="Picture 9" descr="ico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924550"/>
            <a:ext cx="438150" cy="4381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81100" y="5934075"/>
            <a:ext cx="257175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350" b="1">
                <a:solidFill>
                  <a:srgbClr val="1D2528"/>
                </a:solidFill>
                <a:latin typeface="Arial"/>
              </a:rPr>
              <a:t>Стресс и скука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E676B"/>
                </a:solidFill>
                <a:latin typeface="Arial"/>
              </a:rPr>
              <a:t>попытка отвлечься</a:t>
            </a:r>
          </a:p>
        </p:txBody>
      </p:sp>
      <p:pic>
        <p:nvPicPr>
          <p:cNvPr id="12" name="Picture 11" descr="ico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8100" y="5924550"/>
            <a:ext cx="438150" cy="4381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19600" y="5934075"/>
            <a:ext cx="26670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350" b="1">
                <a:solidFill>
                  <a:srgbClr val="1D2528"/>
                </a:solidFill>
                <a:latin typeface="Arial"/>
              </a:rPr>
              <a:t>Реклама, соцсети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E676B"/>
                </a:solidFill>
                <a:latin typeface="Arial"/>
              </a:rPr>
              <a:t>привычку показывают «взрослой»</a:t>
            </a:r>
          </a:p>
        </p:txBody>
      </p:sp>
      <p:pic>
        <p:nvPicPr>
          <p:cNvPr id="14" name="Picture 13" descr="cy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0" y="1428750"/>
            <a:ext cx="4191000" cy="3429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05750" y="5334000"/>
            <a:ext cx="4000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75" b="0">
                <a:solidFill>
                  <a:srgbClr val="5E676B"/>
                </a:solidFill>
                <a:latin typeface="Arial"/>
              </a:rPr>
              <a:t>Цикл зависимости: с каждым кругом нужна бо́льшая доза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E4EE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D2528"/>
                </a:solidFill>
                <a:latin typeface="Cambria"/>
              </a:rPr>
              <a:t>Чем опасно курение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6572250" cy="3143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90500" indent="-190500">
              <a:lnSpc>
                <a:spcPct val="115000"/>
              </a:lnSpc>
              <a:spcAft>
                <a:spcPts val="1050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575" b="0">
                <a:solidFill>
                  <a:srgbClr val="1D2528"/>
                </a:solidFill>
                <a:latin typeface="Arial"/>
              </a:rPr>
              <a:t>Табак убивает более </a:t>
            </a:r>
            <a:r>
              <a:rPr sz="1575" b="1">
                <a:solidFill>
                  <a:srgbClr val="B4553D"/>
                </a:solidFill>
                <a:latin typeface="Arial"/>
              </a:rPr>
              <a:t>8 млн</a:t>
            </a:r>
            <a:r>
              <a:rPr sz="1575" b="0">
                <a:solidFill>
                  <a:srgbClr val="1D2528"/>
                </a:solidFill>
                <a:latin typeface="Arial"/>
              </a:rPr>
              <a:t> человек в год.</a:t>
            </a:r>
          </a:p>
          <a:p>
            <a:pPr marL="190500" indent="-190500">
              <a:lnSpc>
                <a:spcPct val="115000"/>
              </a:lnSpc>
              <a:spcAft>
                <a:spcPts val="1050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575" b="0">
                <a:solidFill>
                  <a:srgbClr val="1D2528"/>
                </a:solidFill>
                <a:latin typeface="Arial"/>
              </a:rPr>
              <a:t>Курильщики живут в среднем на </a:t>
            </a:r>
            <a:r>
              <a:rPr sz="1575" b="1">
                <a:solidFill>
                  <a:srgbClr val="B4553D"/>
                </a:solidFill>
                <a:latin typeface="Arial"/>
              </a:rPr>
              <a:t>10 лет</a:t>
            </a:r>
            <a:r>
              <a:rPr sz="1575" b="0">
                <a:solidFill>
                  <a:srgbClr val="1D2528"/>
                </a:solidFill>
                <a:latin typeface="Arial"/>
              </a:rPr>
              <a:t> меньше.</a:t>
            </a:r>
          </a:p>
          <a:p>
            <a:pPr marL="190500" indent="-190500">
              <a:lnSpc>
                <a:spcPct val="115000"/>
              </a:lnSpc>
              <a:spcAft>
                <a:spcPts val="1050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575" b="1">
                <a:solidFill>
                  <a:srgbClr val="1D2528"/>
                </a:solidFill>
                <a:latin typeface="Arial"/>
              </a:rPr>
              <a:t>Угарный газ</a:t>
            </a:r>
            <a:r>
              <a:rPr sz="1575" b="0">
                <a:solidFill>
                  <a:srgbClr val="1D2528"/>
                </a:solidFill>
                <a:latin typeface="Arial"/>
              </a:rPr>
              <a:t> связывается с гемоглобином в ~200 раз прочнее кислорода. Органы получают меньше кислорода, появляются одышка и слабость.</a:t>
            </a:r>
          </a:p>
          <a:p>
            <a:pPr marL="190500" indent="-190500">
              <a:lnSpc>
                <a:spcPct val="115000"/>
              </a:lnSpc>
              <a:spcAft>
                <a:spcPts val="1050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575" b="1">
                <a:solidFill>
                  <a:srgbClr val="B4553D"/>
                </a:solidFill>
                <a:latin typeface="Arial"/>
              </a:rPr>
              <a:t>80–90%</a:t>
            </a:r>
            <a:r>
              <a:rPr sz="1575" b="0">
                <a:solidFill>
                  <a:srgbClr val="1D2528"/>
                </a:solidFill>
                <a:latin typeface="Arial"/>
              </a:rPr>
              <a:t> смертей от рака лёгких связаны с курением.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191000"/>
            <a:ext cx="6477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5E676B"/>
                </a:solidFill>
                <a:latin typeface="Arial"/>
              </a:rPr>
              <a:t>БОЛЕЕ 7000 ВЕЩЕСТВ В ДЫМЕ, ОКОЛО 70 ВЫЗЫВАЮТ РАК</a:t>
            </a:r>
          </a:p>
        </p:txBody>
      </p:sp>
      <p:pic>
        <p:nvPicPr>
          <p:cNvPr id="6" name="Picture 5" descr="c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457700"/>
            <a:ext cx="6477000" cy="5905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5181600"/>
            <a:ext cx="1234440" cy="99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5181600"/>
            <a:ext cx="1234440" cy="28575"/>
          </a:xfrm>
          <a:prstGeom prst="rect">
            <a:avLst/>
          </a:prstGeom>
          <a:solidFill>
            <a:srgbClr val="B45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295900"/>
            <a:ext cx="1120140" cy="838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050" b="1">
                <a:solidFill>
                  <a:srgbClr val="1D2528"/>
                </a:solidFill>
                <a:latin typeface="Arial"/>
              </a:rPr>
              <a:t>Угарный газ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12" b="0">
                <a:solidFill>
                  <a:srgbClr val="5E676B"/>
                </a:solidFill>
                <a:latin typeface="Arial"/>
              </a:rPr>
              <a:t>мешает крови переносить кислород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5181600"/>
            <a:ext cx="1234440" cy="99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40" y="5181600"/>
            <a:ext cx="1234440" cy="28575"/>
          </a:xfrm>
          <a:prstGeom prst="rect">
            <a:avLst/>
          </a:prstGeom>
          <a:solidFill>
            <a:srgbClr val="B45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96440" y="5295900"/>
            <a:ext cx="1120140" cy="838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050" b="1">
                <a:solidFill>
                  <a:srgbClr val="1D2528"/>
                </a:solidFill>
                <a:latin typeface="Arial"/>
              </a:rPr>
              <a:t>Смолы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12" b="0">
                <a:solidFill>
                  <a:srgbClr val="5E676B"/>
                </a:solidFill>
                <a:latin typeface="Arial"/>
              </a:rPr>
              <a:t>оседают в лёгких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0880" y="5181600"/>
            <a:ext cx="1234440" cy="99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30880" y="5181600"/>
            <a:ext cx="1234440" cy="28575"/>
          </a:xfrm>
          <a:prstGeom prst="rect">
            <a:avLst/>
          </a:prstGeom>
          <a:solidFill>
            <a:srgbClr val="B45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07080" y="5295900"/>
            <a:ext cx="1120140" cy="838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050" b="1">
                <a:solidFill>
                  <a:srgbClr val="1D2528"/>
                </a:solidFill>
                <a:latin typeface="Arial"/>
              </a:rPr>
              <a:t>Бензол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12" b="0">
                <a:solidFill>
                  <a:srgbClr val="5E676B"/>
                </a:solidFill>
                <a:latin typeface="Arial"/>
              </a:rPr>
              <a:t>вызывает лейкоз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41520" y="5181600"/>
            <a:ext cx="1234440" cy="99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41520" y="5181600"/>
            <a:ext cx="1234440" cy="28575"/>
          </a:xfrm>
          <a:prstGeom prst="rect">
            <a:avLst/>
          </a:prstGeom>
          <a:solidFill>
            <a:srgbClr val="B45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5295900"/>
            <a:ext cx="1120140" cy="838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050" b="1">
                <a:solidFill>
                  <a:srgbClr val="1D2528"/>
                </a:solidFill>
                <a:latin typeface="Arial"/>
              </a:rPr>
              <a:t>Формальдегид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12" b="0">
                <a:solidFill>
                  <a:srgbClr val="5E676B"/>
                </a:solidFill>
                <a:latin typeface="Arial"/>
              </a:rPr>
              <a:t>канцероген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5181600"/>
            <a:ext cx="1234440" cy="99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5181600"/>
            <a:ext cx="1234440" cy="28575"/>
          </a:xfrm>
          <a:prstGeom prst="rect">
            <a:avLst/>
          </a:prstGeom>
          <a:solidFill>
            <a:srgbClr val="B45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28360" y="5295900"/>
            <a:ext cx="1120140" cy="838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050" b="1">
                <a:solidFill>
                  <a:srgbClr val="1D2528"/>
                </a:solidFill>
                <a:latin typeface="Arial"/>
              </a:rPr>
              <a:t>Полоний-210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12" b="0">
                <a:solidFill>
                  <a:srgbClr val="5E676B"/>
                </a:solidFill>
                <a:latin typeface="Arial"/>
              </a:rPr>
              <a:t>радиоактивен</a:t>
            </a:r>
          </a:p>
        </p:txBody>
      </p:sp>
      <p:pic>
        <p:nvPicPr>
          <p:cNvPr id="22" name="Picture 21" descr="lu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080" y="1833562"/>
            <a:ext cx="3987840" cy="30003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905750" y="6096000"/>
            <a:ext cx="4000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E676B"/>
                </a:solidFill>
                <a:latin typeface="Arial"/>
              </a:rPr>
              <a:t>Источники: ВОЗ «Табак»; CDC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F5E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D2528"/>
                </a:solidFill>
                <a:latin typeface="Cambria"/>
              </a:rPr>
              <a:t>Вейпы и пассивное курение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6477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5E676B"/>
                </a:solidFill>
                <a:latin typeface="Arial"/>
              </a:rPr>
              <a:t>ВЕЙПЫ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447800"/>
            <a:ext cx="6477000" cy="3143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90500" indent="-190500">
              <a:lnSpc>
                <a:spcPct val="115000"/>
              </a:lnSpc>
              <a:spcAft>
                <a:spcPts val="675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500" b="0">
                <a:solidFill>
                  <a:srgbClr val="1D2528"/>
                </a:solidFill>
                <a:latin typeface="Arial"/>
              </a:rPr>
              <a:t>В жидкости тот же никотин: зависимость формируется так же, как от сигарет.</a:t>
            </a:r>
          </a:p>
          <a:p>
            <a:pPr marL="190500" indent="-190500">
              <a:lnSpc>
                <a:spcPct val="115000"/>
              </a:lnSpc>
              <a:spcAft>
                <a:spcPts val="675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500" b="0">
                <a:solidFill>
                  <a:srgbClr val="1D2528"/>
                </a:solidFill>
                <a:latin typeface="Arial"/>
              </a:rPr>
              <a:t>Никотин особенно вреден для мозга подростков: ухудшает внимание и память.</a:t>
            </a:r>
          </a:p>
          <a:p>
            <a:pPr marL="190500" indent="-190500">
              <a:lnSpc>
                <a:spcPct val="115000"/>
              </a:lnSpc>
              <a:spcAft>
                <a:spcPts val="675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500" b="0">
                <a:solidFill>
                  <a:srgbClr val="1D2528"/>
                </a:solidFill>
                <a:latin typeface="Arial"/>
              </a:rPr>
              <a:t>При нагреве образуются токсичные вещества, в пар попадают частицы металлов спирали.</a:t>
            </a:r>
          </a:p>
          <a:p>
            <a:pPr marL="190500" indent="-190500">
              <a:lnSpc>
                <a:spcPct val="115000"/>
              </a:lnSpc>
              <a:spcAft>
                <a:spcPts val="675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500" b="0">
                <a:solidFill>
                  <a:srgbClr val="1D2528"/>
                </a:solidFill>
                <a:latin typeface="Arial"/>
              </a:rPr>
              <a:t>В 2019–2020 гг. в США </a:t>
            </a:r>
            <a:r>
              <a:rPr sz="1500" b="1">
                <a:solidFill>
                  <a:srgbClr val="B4553D"/>
                </a:solidFill>
                <a:latin typeface="Arial"/>
              </a:rPr>
              <a:t>2807</a:t>
            </a:r>
            <a:r>
              <a:rPr sz="1500" b="0">
                <a:solidFill>
                  <a:srgbClr val="1D2528"/>
                </a:solidFill>
                <a:latin typeface="Arial"/>
              </a:rPr>
              <a:t> человек госпитализировали с поражением лёгких, связанным с вейпами.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762500"/>
            <a:ext cx="6477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5E676B"/>
                </a:solidFill>
                <a:latin typeface="Arial"/>
              </a:rPr>
              <a:t>ПАССИВНОЕ КУРЕНИЕ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029200"/>
            <a:ext cx="647700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90500" indent="-190500">
              <a:lnSpc>
                <a:spcPct val="115000"/>
              </a:lnSpc>
              <a:spcAft>
                <a:spcPts val="675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500" b="0">
                <a:solidFill>
                  <a:srgbClr val="1D2528"/>
                </a:solidFill>
                <a:latin typeface="Arial"/>
              </a:rPr>
              <a:t>Ежегодно </a:t>
            </a:r>
            <a:r>
              <a:rPr sz="1500" b="1">
                <a:solidFill>
                  <a:srgbClr val="B4553D"/>
                </a:solidFill>
                <a:latin typeface="Arial"/>
              </a:rPr>
              <a:t>1,3 млн</a:t>
            </a:r>
            <a:r>
              <a:rPr sz="1500" b="0">
                <a:solidFill>
                  <a:srgbClr val="1D2528"/>
                </a:solidFill>
                <a:latin typeface="Arial"/>
              </a:rPr>
              <a:t> некурящих умирают от чужого дыма.</a:t>
            </a:r>
          </a:p>
          <a:p>
            <a:pPr marL="190500" indent="-190500">
              <a:lnSpc>
                <a:spcPct val="115000"/>
              </a:lnSpc>
              <a:spcAft>
                <a:spcPts val="675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500" b="0">
                <a:solidFill>
                  <a:srgbClr val="1D2528"/>
                </a:solidFill>
                <a:latin typeface="Arial"/>
              </a:rPr>
              <a:t>У детей курящих родителей чаще бывают астма, бронхиты и отиты.</a:t>
            </a:r>
          </a:p>
        </p:txBody>
      </p:sp>
      <p:pic>
        <p:nvPicPr>
          <p:cNvPr id="8" name="Picture 7" descr="org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135" y="352425"/>
            <a:ext cx="3799730" cy="35242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962900" y="4191000"/>
            <a:ext cx="3886200" cy="1809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62900" y="4191000"/>
            <a:ext cx="38100" cy="1809750"/>
          </a:xfrm>
          <a:prstGeom prst="rect">
            <a:avLst/>
          </a:prstGeom>
          <a:solidFill>
            <a:srgbClr val="B45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3400" y="4324350"/>
            <a:ext cx="35433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5E676B"/>
                </a:solidFill>
                <a:latin typeface="Arial"/>
              </a:rPr>
              <a:t>ЗАКОН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400" y="4610100"/>
            <a:ext cx="3543300" cy="1314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52400" indent="-152400">
              <a:lnSpc>
                <a:spcPct val="115000"/>
              </a:lnSpc>
              <a:spcAft>
                <a:spcPts val="450"/>
              </a:spcAft>
              <a:buClr>
                <a:srgbClr val="B4553D"/>
              </a:buClr>
              <a:buSzPct val="100000"/>
              <a:buFont typeface="Arial"/>
              <a:buChar char="•"/>
            </a:pPr>
            <a:r>
              <a:rPr sz="1162" b="0">
                <a:solidFill>
                  <a:srgbClr val="1D2528"/>
                </a:solidFill>
                <a:latin typeface="Arial"/>
              </a:rPr>
              <a:t>Сигареты и вейпы запрещено продавать лицам младше 18 лет.</a:t>
            </a:r>
          </a:p>
          <a:p>
            <a:pPr marL="152400" indent="-152400">
              <a:lnSpc>
                <a:spcPct val="115000"/>
              </a:lnSpc>
              <a:spcAft>
                <a:spcPts val="450"/>
              </a:spcAft>
              <a:buClr>
                <a:srgbClr val="B4553D"/>
              </a:buClr>
              <a:buSzPct val="100000"/>
              <a:buFont typeface="Arial"/>
              <a:buChar char="•"/>
            </a:pPr>
            <a:r>
              <a:rPr sz="1162" b="0">
                <a:solidFill>
                  <a:srgbClr val="1D2528"/>
                </a:solidFill>
                <a:latin typeface="Arial"/>
              </a:rPr>
              <a:t>Курение в запрещённых местах — штраф 500–1500 ₽, на детской площадке — 2000–3000 ₽ (КоАП 6.24).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_g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19100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D2528"/>
                </a:solidFill>
                <a:latin typeface="Cambria"/>
              </a:rPr>
              <a:t>Игровая зависимость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6477000" cy="361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750"/>
              </a:spcAft>
            </a:pPr>
            <a:r>
              <a:rPr sz="1500" b="0">
                <a:solidFill>
                  <a:srgbClr val="1D2528"/>
                </a:solidFill>
                <a:latin typeface="Arial"/>
              </a:rPr>
              <a:t>С 2022 года в Международной классификации болезней (МКБ-11, код 6C51) есть диагноз </a:t>
            </a:r>
            <a:r>
              <a:rPr sz="1500" b="1">
                <a:solidFill>
                  <a:srgbClr val="1D2528"/>
                </a:solidFill>
                <a:latin typeface="Arial"/>
              </a:rPr>
              <a:t>«игровое расстройство»</a:t>
            </a:r>
            <a:r>
              <a:rPr sz="1500" b="0">
                <a:solidFill>
                  <a:srgbClr val="1D2528"/>
                </a:solidFill>
                <a:latin typeface="Arial"/>
              </a:rPr>
              <a:t>. Врачи ставят его, если человек:</a:t>
            </a:r>
          </a:p>
          <a:p>
            <a:pPr marL="190500" indent="-190500">
              <a:lnSpc>
                <a:spcPct val="115000"/>
              </a:lnSpc>
              <a:spcAft>
                <a:spcPts val="675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500" b="0">
                <a:solidFill>
                  <a:srgbClr val="1D2528"/>
                </a:solidFill>
                <a:latin typeface="Arial"/>
              </a:rPr>
              <a:t>не контролирует, сколько времени проводит за игрой;</a:t>
            </a:r>
          </a:p>
          <a:p>
            <a:pPr marL="190500" indent="-190500">
              <a:lnSpc>
                <a:spcPct val="115000"/>
              </a:lnSpc>
              <a:spcAft>
                <a:spcPts val="675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500" b="0">
                <a:solidFill>
                  <a:srgbClr val="1D2528"/>
                </a:solidFill>
                <a:latin typeface="Arial"/>
              </a:rPr>
              <a:t>ставит игру выше учёбы, сна и общения;</a:t>
            </a:r>
          </a:p>
          <a:p>
            <a:pPr marL="190500" indent="-190500">
              <a:lnSpc>
                <a:spcPct val="115000"/>
              </a:lnSpc>
              <a:spcAft>
                <a:spcPts val="1050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500" b="0">
                <a:solidFill>
                  <a:srgbClr val="1D2528"/>
                </a:solidFill>
                <a:latin typeface="Arial"/>
              </a:rPr>
              <a:t>продолжает играть, несмотря на проблемы, обычно не меньше года.</a:t>
            </a:r>
          </a:p>
          <a:p>
            <a:pPr>
              <a:lnSpc>
                <a:spcPct val="115000"/>
              </a:lnSpc>
              <a:spcAft>
                <a:spcPts val="750"/>
              </a:spcAft>
            </a:pPr>
            <a:r>
              <a:rPr sz="1425" b="0">
                <a:solidFill>
                  <a:srgbClr val="1D2528"/>
                </a:solidFill>
                <a:latin typeface="Arial"/>
              </a:rPr>
              <a:t>По оценкам исследований, игровое расстройство есть примерно у </a:t>
            </a:r>
            <a:r>
              <a:rPr sz="1425" b="1">
                <a:solidFill>
                  <a:srgbClr val="B4553D"/>
                </a:solidFill>
                <a:latin typeface="Arial"/>
              </a:rPr>
              <a:t>3%</a:t>
            </a:r>
            <a:r>
              <a:rPr sz="1425" b="0">
                <a:solidFill>
                  <a:srgbClr val="1D2528"/>
                </a:solidFill>
                <a:latin typeface="Arial"/>
              </a:rPr>
              <a:t> играющих.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953000"/>
            <a:ext cx="6477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5E676B"/>
                </a:solidFill>
                <a:latin typeface="Arial"/>
              </a:rPr>
              <a:t>ПОСЛЕДСТВИЯ</a:t>
            </a:r>
          </a:p>
        </p:txBody>
      </p:sp>
      <p:pic>
        <p:nvPicPr>
          <p:cNvPr id="6" name="Picture 5" descr="ico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257800"/>
            <a:ext cx="438150" cy="438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1100" y="5267325"/>
            <a:ext cx="257175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350" b="1">
                <a:solidFill>
                  <a:srgbClr val="1D2528"/>
                </a:solidFill>
                <a:latin typeface="Arial"/>
              </a:rPr>
              <a:t>Недосып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E676B"/>
                </a:solidFill>
                <a:latin typeface="Arial"/>
              </a:rPr>
              <a:t>усталость, хуже память</a:t>
            </a:r>
          </a:p>
        </p:txBody>
      </p:sp>
      <p:pic>
        <p:nvPicPr>
          <p:cNvPr id="8" name="Picture 7" descr="ico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00" y="5257800"/>
            <a:ext cx="438150" cy="438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19600" y="5267325"/>
            <a:ext cx="26670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350" b="1">
                <a:solidFill>
                  <a:srgbClr val="1D2528"/>
                </a:solidFill>
                <a:latin typeface="Arial"/>
              </a:rPr>
              <a:t>Нагрузка на глаза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E676B"/>
                </a:solidFill>
                <a:latin typeface="Arial"/>
              </a:rPr>
              <a:t>сухость, усталость зрения</a:t>
            </a:r>
          </a:p>
        </p:txBody>
      </p:sp>
      <p:pic>
        <p:nvPicPr>
          <p:cNvPr id="10" name="Picture 9" descr="ico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924550"/>
            <a:ext cx="438150" cy="4381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81100" y="5934075"/>
            <a:ext cx="257175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350" b="1">
                <a:solidFill>
                  <a:srgbClr val="1D2528"/>
                </a:solidFill>
                <a:latin typeface="Arial"/>
              </a:rPr>
              <a:t>Учёба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E676B"/>
                </a:solidFill>
                <a:latin typeface="Arial"/>
              </a:rPr>
              <a:t>пропуски, долги по предметам</a:t>
            </a:r>
          </a:p>
        </p:txBody>
      </p:sp>
      <p:pic>
        <p:nvPicPr>
          <p:cNvPr id="12" name="Picture 11" descr="ico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8100" y="5924550"/>
            <a:ext cx="438150" cy="4381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19600" y="5934075"/>
            <a:ext cx="26670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350" b="1">
                <a:solidFill>
                  <a:srgbClr val="1D2528"/>
                </a:solidFill>
                <a:latin typeface="Arial"/>
              </a:rPr>
              <a:t>Общение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E676B"/>
                </a:solidFill>
                <a:latin typeface="Arial"/>
              </a:rPr>
              <a:t>меньше живых контактов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E4EE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D2528"/>
                </a:solidFill>
                <a:latin typeface="Cambria"/>
              </a:rPr>
              <a:t>Почему игры затягивают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6477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750"/>
              </a:spcAft>
            </a:pPr>
            <a:r>
              <a:rPr sz="1500" b="0">
                <a:solidFill>
                  <a:srgbClr val="1D2528"/>
                </a:solidFill>
                <a:latin typeface="Arial"/>
              </a:rPr>
              <a:t>Многие игры специально устроены так, чтобы в них возвращались.</a:t>
            </a:r>
          </a:p>
        </p:txBody>
      </p:sp>
      <p:pic>
        <p:nvPicPr>
          <p:cNvPr id="5" name="Picture 4" descr="ico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76400"/>
            <a:ext cx="438150" cy="438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1100" y="1685925"/>
            <a:ext cx="59055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350" b="1">
                <a:solidFill>
                  <a:srgbClr val="1D2528"/>
                </a:solidFill>
                <a:latin typeface="Arial"/>
              </a:rPr>
              <a:t>Кейсы и лутбоксы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E676B"/>
                </a:solidFill>
                <a:latin typeface="Arial"/>
              </a:rPr>
              <a:t>случайная награда за деньги работает как игровой автомат. В Бельгии с 2018 года их приравняли к азартным играм.</a:t>
            </a:r>
          </a:p>
        </p:txBody>
      </p:sp>
      <p:pic>
        <p:nvPicPr>
          <p:cNvPr id="7" name="Picture 6" descr="ico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2700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1100" y="2562225"/>
            <a:ext cx="59055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350" b="1">
                <a:solidFill>
                  <a:srgbClr val="1D2528"/>
                </a:solidFill>
                <a:latin typeface="Arial"/>
              </a:rPr>
              <a:t>Ежедневные награды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E676B"/>
                </a:solidFill>
                <a:latin typeface="Arial"/>
              </a:rPr>
              <a:t>страшно пропустить день и потерять «серию».</a:t>
            </a:r>
          </a:p>
        </p:txBody>
      </p:sp>
      <p:pic>
        <p:nvPicPr>
          <p:cNvPr id="9" name="Picture 8" descr="ico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238500"/>
            <a:ext cx="438150" cy="4381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1100" y="3248025"/>
            <a:ext cx="59055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350" b="1">
                <a:solidFill>
                  <a:srgbClr val="1D2528"/>
                </a:solidFill>
                <a:latin typeface="Arial"/>
              </a:rPr>
              <a:t>Рейтинги и сезоны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E676B"/>
                </a:solidFill>
                <a:latin typeface="Arial"/>
              </a:rPr>
              <a:t>чтобы не отстать, нужно играть всё больше.</a:t>
            </a:r>
          </a:p>
        </p:txBody>
      </p:sp>
      <p:pic>
        <p:nvPicPr>
          <p:cNvPr id="11" name="Picture 10" descr="ico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924300"/>
            <a:ext cx="438150" cy="4381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81100" y="3933825"/>
            <a:ext cx="59055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</a:pPr>
            <a:r>
              <a:rPr sz="1350" b="1">
                <a:solidFill>
                  <a:srgbClr val="1D2528"/>
                </a:solidFill>
                <a:latin typeface="Arial"/>
              </a:rPr>
              <a:t>Нет точки остановки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E676B"/>
                </a:solidFill>
                <a:latin typeface="Arial"/>
              </a:rPr>
              <a:t>матчи идут один за другим, лента не заканчивается.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4953000"/>
            <a:ext cx="6477000" cy="1333500"/>
          </a:xfrm>
          <a:prstGeom prst="rect">
            <a:avLst/>
          </a:prstGeom>
          <a:solidFill>
            <a:srgbClr val="F5E8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4953000"/>
            <a:ext cx="38100" cy="1333500"/>
          </a:xfrm>
          <a:prstGeom prst="rect">
            <a:avLst/>
          </a:prstGeom>
          <a:solidFill>
            <a:srgbClr val="B45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" y="5086350"/>
            <a:ext cx="61341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5E676B"/>
                </a:solidFill>
                <a:latin typeface="Arial"/>
              </a:rPr>
              <a:t>СТАВКИ И КАЗИНО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5372100"/>
            <a:ext cx="6134100" cy="838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75" b="0">
                <a:solidFill>
                  <a:srgbClr val="1D2528"/>
                </a:solidFill>
                <a:latin typeface="Arial"/>
              </a:rPr>
              <a:t>Участвовать в азартных играх и делать ставки запрещено до 18 лет (ФЗ № 244). Онлайн-казино в России незаконны. Лудомания быстро приводит к долгам и кредитам.</a:t>
            </a:r>
          </a:p>
        </p:txBody>
      </p:sp>
      <p:pic>
        <p:nvPicPr>
          <p:cNvPr id="17" name="Picture 16" descr="c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2160" y="333375"/>
            <a:ext cx="2847680" cy="276225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962900" y="3543300"/>
            <a:ext cx="3886200" cy="190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62900" y="3543300"/>
            <a:ext cx="38100" cy="1905000"/>
          </a:xfrm>
          <a:prstGeom prst="rect">
            <a:avLst/>
          </a:prstGeom>
          <a:solidFill>
            <a:srgbClr val="2F6B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3400" y="3676650"/>
            <a:ext cx="35433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5E676B"/>
                </a:solidFill>
                <a:latin typeface="Arial"/>
              </a:rPr>
              <a:t>ЦИФРОВАЯ ГИГИЕНА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3400" y="3962400"/>
            <a:ext cx="3543300" cy="140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52400" indent="-152400">
              <a:lnSpc>
                <a:spcPct val="115000"/>
              </a:lnSpc>
              <a:spcAft>
                <a:spcPts val="450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D2528"/>
                </a:solidFill>
                <a:latin typeface="Arial"/>
              </a:rPr>
              <a:t>без телефона за час до сна</a:t>
            </a:r>
          </a:p>
          <a:p>
            <a:pPr marL="152400" indent="-152400">
              <a:lnSpc>
                <a:spcPct val="115000"/>
              </a:lnSpc>
              <a:spcAft>
                <a:spcPts val="450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D2528"/>
                </a:solidFill>
                <a:latin typeface="Arial"/>
              </a:rPr>
              <a:t>отключить лишние уведомления</a:t>
            </a:r>
          </a:p>
          <a:p>
            <a:pPr marL="152400" indent="-152400">
              <a:lnSpc>
                <a:spcPct val="115000"/>
              </a:lnSpc>
              <a:spcAft>
                <a:spcPts val="450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D2528"/>
                </a:solidFill>
                <a:latin typeface="Arial"/>
              </a:rPr>
              <a:t>поставить лимит экранного времени</a:t>
            </a:r>
          </a:p>
          <a:p>
            <a:pPr marL="152400" indent="-152400">
              <a:lnSpc>
                <a:spcPct val="115000"/>
              </a:lnSpc>
              <a:spcAft>
                <a:spcPts val="450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D2528"/>
                </a:solidFill>
                <a:latin typeface="Arial"/>
              </a:rPr>
              <a:t>перерыв каждый час: встать, дать отдых глазам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19100"/>
            <a:ext cx="10477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D2528"/>
                </a:solidFill>
                <a:latin typeface="Cambria"/>
              </a:rPr>
              <a:t>Как избавиться от зависимости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1706880" y="1428750"/>
            <a:ext cx="8778240" cy="19050"/>
          </a:xfrm>
          <a:prstGeom prst="rect">
            <a:avLst/>
          </a:prstGeom>
          <a:solidFill>
            <a:srgbClr val="DCDA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80" y="1133475"/>
            <a:ext cx="609600" cy="60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" y="1809750"/>
            <a:ext cx="208026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975" b="1">
                <a:solidFill>
                  <a:srgbClr val="2F6B66"/>
                </a:solidFill>
                <a:latin typeface="Arial"/>
              </a:rPr>
              <a:t>ШАГ 1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75" b="0">
                <a:solidFill>
                  <a:srgbClr val="1D2528"/>
                </a:solidFill>
                <a:latin typeface="Arial"/>
              </a:rPr>
              <a:t>Признать проблему</a:t>
            </a:r>
          </a:p>
        </p:txBody>
      </p:sp>
      <p:pic>
        <p:nvPicPr>
          <p:cNvPr id="6" name="Picture 5" descr="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640" y="1133475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61310" y="1809750"/>
            <a:ext cx="208026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975" b="1">
                <a:solidFill>
                  <a:srgbClr val="2F6B66"/>
                </a:solidFill>
                <a:latin typeface="Arial"/>
              </a:rPr>
              <a:t>ШАГ 2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75" b="0">
                <a:solidFill>
                  <a:srgbClr val="1D2528"/>
                </a:solidFill>
                <a:latin typeface="Arial"/>
              </a:rPr>
              <a:t>Назначить дату отказа</a:t>
            </a:r>
          </a:p>
        </p:txBody>
      </p:sp>
      <p:pic>
        <p:nvPicPr>
          <p:cNvPr id="8" name="Picture 7" descr="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1133475"/>
            <a:ext cx="609600" cy="60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55870" y="1809750"/>
            <a:ext cx="208026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975" b="1">
                <a:solidFill>
                  <a:srgbClr val="2F6B66"/>
                </a:solidFill>
                <a:latin typeface="Arial"/>
              </a:rPr>
              <a:t>ШАГ 3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75" b="0">
                <a:solidFill>
                  <a:srgbClr val="1D2528"/>
                </a:solidFill>
                <a:latin typeface="Arial"/>
              </a:rPr>
              <a:t>Убрать поводы и компании</a:t>
            </a:r>
          </a:p>
        </p:txBody>
      </p:sp>
      <p:pic>
        <p:nvPicPr>
          <p:cNvPr id="10" name="Picture 9" descr="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5760" y="1133475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0430" y="1809750"/>
            <a:ext cx="208026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975" b="1">
                <a:solidFill>
                  <a:srgbClr val="2F6B66"/>
                </a:solidFill>
                <a:latin typeface="Arial"/>
              </a:rPr>
              <a:t>ШАГ 4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75" b="0">
                <a:solidFill>
                  <a:srgbClr val="1D2528"/>
                </a:solidFill>
                <a:latin typeface="Arial"/>
              </a:rPr>
              <a:t>Обратиться к врачу</a:t>
            </a:r>
          </a:p>
        </p:txBody>
      </p:sp>
      <p:pic>
        <p:nvPicPr>
          <p:cNvPr id="12" name="Picture 11" descr="step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0320" y="1133475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44990" y="1809750"/>
            <a:ext cx="208026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975" b="1">
                <a:solidFill>
                  <a:srgbClr val="2F6B66"/>
                </a:solidFill>
                <a:latin typeface="Arial"/>
              </a:rPr>
              <a:t>ШАГ 5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75" b="0">
                <a:solidFill>
                  <a:srgbClr val="1D2528"/>
                </a:solidFill>
                <a:latin typeface="Arial"/>
              </a:rPr>
              <a:t>Опираться на близких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2857500"/>
            <a:ext cx="3190875" cy="3333750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2857500"/>
            <a:ext cx="38100" cy="3333750"/>
          </a:xfrm>
          <a:prstGeom prst="rect">
            <a:avLst/>
          </a:prstGeom>
          <a:solidFill>
            <a:srgbClr val="2F6B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card7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3028950"/>
            <a:ext cx="19050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6800" y="3038475"/>
            <a:ext cx="2571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125" b="1">
                <a:solidFill>
                  <a:srgbClr val="5E676B"/>
                </a:solidFill>
                <a:latin typeface="Arial"/>
              </a:rPr>
              <a:t>КУРЕНИЕ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3409950"/>
            <a:ext cx="2838450" cy="266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52400" indent="-152400">
              <a:lnSpc>
                <a:spcPct val="115000"/>
              </a:lnSpc>
              <a:spcAft>
                <a:spcPts val="1050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350" b="1">
                <a:solidFill>
                  <a:srgbClr val="1D2528"/>
                </a:solidFill>
                <a:latin typeface="Arial"/>
              </a:rPr>
              <a:t>Кто помогает:</a:t>
            </a:r>
            <a:r>
              <a:rPr sz="1350" b="0">
                <a:solidFill>
                  <a:srgbClr val="1D2528"/>
                </a:solidFill>
                <a:latin typeface="Arial"/>
              </a:rPr>
              <a:t> терапевт, кабинет помощи при отказе от курения в поликлинике</a:t>
            </a:r>
          </a:p>
          <a:p>
            <a:pPr marL="152400" indent="-152400">
              <a:lnSpc>
                <a:spcPct val="115000"/>
              </a:lnSpc>
              <a:spcAft>
                <a:spcPts val="1050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350" b="1">
                <a:solidFill>
                  <a:srgbClr val="1D2528"/>
                </a:solidFill>
                <a:latin typeface="Arial"/>
              </a:rPr>
              <a:t>Лечение:</a:t>
            </a:r>
            <a:r>
              <a:rPr sz="1350" b="0">
                <a:solidFill>
                  <a:srgbClr val="1D2528"/>
                </a:solidFill>
                <a:latin typeface="Arial"/>
              </a:rPr>
              <a:t> никотиновые пластыри и жвачки, таблетки по назначению врача</a:t>
            </a:r>
          </a:p>
          <a:p>
            <a:pPr marL="152400" indent="-152400">
              <a:lnSpc>
                <a:spcPct val="115000"/>
              </a:lnSpc>
              <a:spcAft>
                <a:spcPts val="1050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D2528"/>
                </a:solidFill>
                <a:latin typeface="Arial"/>
              </a:rPr>
              <a:t>Раздражительность и тяга сильнее всего в первую неделю и ослабевают за 2–4 недели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1925" y="2857500"/>
            <a:ext cx="3190875" cy="3333750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71925" y="2857500"/>
            <a:ext cx="38100" cy="3333750"/>
          </a:xfrm>
          <a:prstGeom prst="rect">
            <a:avLst/>
          </a:prstGeom>
          <a:solidFill>
            <a:srgbClr val="2F6B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card7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2425" y="3028950"/>
            <a:ext cx="190500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429125" y="3038475"/>
            <a:ext cx="2571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125" b="1">
                <a:solidFill>
                  <a:srgbClr val="5E676B"/>
                </a:solidFill>
                <a:latin typeface="Arial"/>
              </a:rPr>
              <a:t>ИГРОВАЯ ЗАВИСИМОСТЬ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2425" y="3409950"/>
            <a:ext cx="2838450" cy="266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152400" indent="-152400">
              <a:lnSpc>
                <a:spcPct val="115000"/>
              </a:lnSpc>
              <a:spcAft>
                <a:spcPts val="1050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350" b="1">
                <a:solidFill>
                  <a:srgbClr val="1D2528"/>
                </a:solidFill>
                <a:latin typeface="Arial"/>
              </a:rPr>
              <a:t>Кто помогает:</a:t>
            </a:r>
            <a:r>
              <a:rPr sz="1350" b="0">
                <a:solidFill>
                  <a:srgbClr val="1D2528"/>
                </a:solidFill>
                <a:latin typeface="Arial"/>
              </a:rPr>
              <a:t> психотерапевт, психолог</a:t>
            </a:r>
          </a:p>
          <a:p>
            <a:pPr marL="152400" indent="-152400">
              <a:lnSpc>
                <a:spcPct val="115000"/>
              </a:lnSpc>
              <a:spcAft>
                <a:spcPts val="1050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350" b="1">
                <a:solidFill>
                  <a:srgbClr val="1D2528"/>
                </a:solidFill>
                <a:latin typeface="Arial"/>
              </a:rPr>
              <a:t>Лечение:</a:t>
            </a:r>
            <a:r>
              <a:rPr sz="1350" b="0">
                <a:solidFill>
                  <a:srgbClr val="1D2528"/>
                </a:solidFill>
                <a:latin typeface="Arial"/>
              </a:rPr>
              <a:t> когнитивно-поведенческая терапия</a:t>
            </a:r>
          </a:p>
          <a:p>
            <a:pPr marL="152400" indent="-152400">
              <a:lnSpc>
                <a:spcPct val="115000"/>
              </a:lnSpc>
              <a:spcAft>
                <a:spcPts val="1050"/>
              </a:spcAft>
              <a:buClr>
                <a:srgbClr val="2F6B66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D2528"/>
                </a:solidFill>
                <a:latin typeface="Arial"/>
              </a:rPr>
              <a:t>Лимиты времени, удалить игры с телефона, заблокировать сайты ставок</a:t>
            </a:r>
          </a:p>
        </p:txBody>
      </p:sp>
      <p:pic>
        <p:nvPicPr>
          <p:cNvPr id="24" name="Picture 23" descr="p_doc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1400" y="2857500"/>
            <a:ext cx="4191000" cy="13335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391400" y="4191000"/>
            <a:ext cx="4191000" cy="2000250"/>
          </a:xfrm>
          <a:prstGeom prst="rect">
            <a:avLst/>
          </a:prstGeom>
          <a:solidFill>
            <a:srgbClr val="2F6B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0950" y="4343400"/>
            <a:ext cx="3810000" cy="1771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E4EEEB"/>
                </a:solidFill>
                <a:latin typeface="Arial"/>
              </a:rPr>
              <a:t>БЕСПЛАТНО И АНОНИМНО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Arial"/>
              </a:rPr>
              <a:t>8-800-200-0-200</a:t>
            </a:r>
          </a:p>
          <a:p>
            <a:pPr>
              <a:lnSpc>
                <a:spcPct val="115000"/>
              </a:lnSpc>
              <a:spcAft>
                <a:spcPts val="750"/>
              </a:spcAft>
            </a:pPr>
            <a:r>
              <a:rPr sz="1162" b="0">
                <a:solidFill>
                  <a:srgbClr val="FFFFFF"/>
                </a:solidFill>
                <a:latin typeface="Arial"/>
              </a:rPr>
              <a:t>горячая линия Минздрава, доб. 1 — отказ от курения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Arial"/>
              </a:rPr>
              <a:t>8-800-2000-122</a:t>
            </a:r>
          </a:p>
          <a:p>
            <a:pPr>
              <a:lnSpc>
                <a:spcPct val="115000"/>
              </a:lnSpc>
              <a:spcAft>
                <a:spcPts val="750"/>
              </a:spcAft>
            </a:pPr>
            <a:r>
              <a:rPr sz="1162" b="0">
                <a:solidFill>
                  <a:srgbClr val="FFFFFF"/>
                </a:solidFill>
                <a:latin typeface="Arial"/>
              </a:rPr>
              <a:t>детский телефон доверия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012" b="0">
                <a:solidFill>
                  <a:srgbClr val="E4EEEB"/>
                </a:solidFill>
                <a:latin typeface="Arial"/>
              </a:rPr>
              <a:t>Помощь в отказе от курения также оказывают центры здоровья при поликлиниках.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19100"/>
            <a:ext cx="10477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D2528"/>
                </a:solidFill>
                <a:latin typeface="Cambria"/>
              </a:rPr>
              <a:t>Что происходит после отказа от курения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866775" y="1390650"/>
            <a:ext cx="9144000" cy="28575"/>
          </a:xfrm>
          <a:prstGeom prst="rect">
            <a:avLst/>
          </a:prstGeom>
          <a:solidFill>
            <a:srgbClr val="2F6B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t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52525"/>
            <a:ext cx="514350" cy="514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790700"/>
            <a:ext cx="169545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725" b="1">
                <a:solidFill>
                  <a:srgbClr val="2F6B66"/>
                </a:solidFill>
                <a:latin typeface="Cambria"/>
              </a:rPr>
              <a:t>20 минут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37" b="0">
                <a:solidFill>
                  <a:srgbClr val="1D2528"/>
                </a:solidFill>
                <a:latin typeface="Arial"/>
              </a:rPr>
              <a:t>снижаются пульс и давление</a:t>
            </a:r>
          </a:p>
        </p:txBody>
      </p:sp>
      <p:pic>
        <p:nvPicPr>
          <p:cNvPr id="6" name="Picture 5" descr="t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152525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38400" y="1790700"/>
            <a:ext cx="169545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725" b="1">
                <a:solidFill>
                  <a:srgbClr val="2F6B66"/>
                </a:solidFill>
                <a:latin typeface="Cambria"/>
              </a:rPr>
              <a:t>12 часов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37" b="0">
                <a:solidFill>
                  <a:srgbClr val="1D2528"/>
                </a:solidFill>
                <a:latin typeface="Arial"/>
              </a:rPr>
              <a:t>угарный газ в крови приходит в норму</a:t>
            </a:r>
          </a:p>
        </p:txBody>
      </p:sp>
      <p:pic>
        <p:nvPicPr>
          <p:cNvPr id="8" name="Picture 7" descr="t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152525"/>
            <a:ext cx="514350" cy="514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67200" y="1790700"/>
            <a:ext cx="169545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725" b="1">
                <a:solidFill>
                  <a:srgbClr val="2F6B66"/>
                </a:solidFill>
                <a:latin typeface="Cambria"/>
              </a:rPr>
              <a:t>2–12 недель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37" b="0">
                <a:solidFill>
                  <a:srgbClr val="1D2528"/>
                </a:solidFill>
                <a:latin typeface="Arial"/>
              </a:rPr>
              <a:t>улучшаются кровообращение и работа лёгких</a:t>
            </a:r>
          </a:p>
        </p:txBody>
      </p:sp>
      <p:pic>
        <p:nvPicPr>
          <p:cNvPr id="10" name="Picture 9" descr="t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152525"/>
            <a:ext cx="514350" cy="514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0" y="1790700"/>
            <a:ext cx="169545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725" b="1">
                <a:solidFill>
                  <a:srgbClr val="2F6B66"/>
                </a:solidFill>
                <a:latin typeface="Cambria"/>
              </a:rPr>
              <a:t>1–9 месяцев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37" b="0">
                <a:solidFill>
                  <a:srgbClr val="1D2528"/>
                </a:solidFill>
                <a:latin typeface="Arial"/>
              </a:rPr>
              <a:t>уменьшаются кашель и одышка</a:t>
            </a:r>
          </a:p>
        </p:txBody>
      </p:sp>
      <p:pic>
        <p:nvPicPr>
          <p:cNvPr id="12" name="Picture 11" descr="tl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4800" y="1152525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24800" y="1790700"/>
            <a:ext cx="169545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725" b="1">
                <a:solidFill>
                  <a:srgbClr val="2F6B66"/>
                </a:solidFill>
                <a:latin typeface="Cambria"/>
              </a:rPr>
              <a:t>1 год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37" b="0">
                <a:solidFill>
                  <a:srgbClr val="1D2528"/>
                </a:solidFill>
                <a:latin typeface="Arial"/>
              </a:rPr>
              <a:t>риск болезни сердца вдвое ниже</a:t>
            </a:r>
          </a:p>
        </p:txBody>
      </p:sp>
      <p:pic>
        <p:nvPicPr>
          <p:cNvPr id="14" name="Picture 13" descr="tl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3600" y="1152525"/>
            <a:ext cx="514350" cy="514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53600" y="1790700"/>
            <a:ext cx="169545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725" b="1">
                <a:solidFill>
                  <a:srgbClr val="2F6B66"/>
                </a:solidFill>
                <a:latin typeface="Cambria"/>
              </a:rPr>
              <a:t>10 лет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37" b="0">
                <a:solidFill>
                  <a:srgbClr val="1D2528"/>
                </a:solidFill>
                <a:latin typeface="Arial"/>
              </a:rPr>
              <a:t>риск рака лёгких примерно вдвое ниже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3333750"/>
            <a:ext cx="7429500" cy="2381250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250" y="3543300"/>
            <a:ext cx="6953250" cy="142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Aft>
                <a:spcPts val="750"/>
              </a:spcAft>
            </a:pPr>
            <a:r>
              <a:rPr sz="1575" b="1">
                <a:solidFill>
                  <a:srgbClr val="1D2528"/>
                </a:solidFill>
                <a:latin typeface="Arial"/>
              </a:rPr>
              <a:t>Вывод.</a:t>
            </a:r>
            <a:r>
              <a:rPr sz="1575" b="0">
                <a:solidFill>
                  <a:srgbClr val="1D2528"/>
                </a:solidFill>
                <a:latin typeface="Arial"/>
              </a:rPr>
              <a:t> Курение и игровая зависимость разрушают здоровье постепенно и незаметно. Привычку проще не начинать, чем бросить, но отказаться можно в любом возрасте, а помощь можно получить бесплатно и анонимно.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5048250"/>
            <a:ext cx="695325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2F6B66"/>
                </a:solidFill>
                <a:latin typeface="Cambria"/>
              </a:rPr>
              <a:t>Спасибо за внимание!</a:t>
            </a:r>
          </a:p>
        </p:txBody>
      </p:sp>
      <p:pic>
        <p:nvPicPr>
          <p:cNvPr id="19" name="Picture 18" descr="p_en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8650" y="3333750"/>
            <a:ext cx="3333750" cy="2381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60960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E676B"/>
                </a:solidFill>
                <a:latin typeface="Arial"/>
              </a:rPr>
              <a:t>Источники: ВОЗ — «Табак», «Польза отказа от курения для здоровья», «Игровое расстройство»; МКБ-11; CDC; Stevens M. et al., 2021; ФЗ № 15, № 244; КоАП РФ ст. 6.24. Фото: StockSnap, Rawpixel (CC0).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